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57" r:id="rId4"/>
    <p:sldId id="260" r:id="rId5"/>
    <p:sldId id="258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82A7FF-6F3F-41DA-8098-6C038A2CED9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572DF5E-1B60-42D8-8E4A-D015A2E7D402}">
      <dgm:prSet/>
      <dgm:spPr/>
      <dgm:t>
        <a:bodyPr/>
        <a:lstStyle/>
        <a:p>
          <a:r>
            <a:rPr lang="en-US" b="0" i="0" baseline="0"/>
            <a:t>Mô hình cơ sở dữ liệu gồm:Bảng </a:t>
          </a:r>
          <a:r>
            <a:rPr lang="en-US" b="1" i="0" baseline="0"/>
            <a:t>Khách hàng, Sản phẩm, Danh mục, Đơn hàng, Nhân viên, Chi tiết đơn hàng</a:t>
          </a:r>
          <a:r>
            <a:rPr lang="en-US" b="0" i="0" baseline="0"/>
            <a:t>.</a:t>
          </a:r>
          <a:endParaRPr lang="en-US"/>
        </a:p>
      </dgm:t>
    </dgm:pt>
    <dgm:pt modelId="{1A7E89B1-43C8-4A60-8665-BA426C3F2312}" type="parTrans" cxnId="{5D8058C7-D81B-489F-9652-E83B6EF8FA52}">
      <dgm:prSet/>
      <dgm:spPr/>
      <dgm:t>
        <a:bodyPr/>
        <a:lstStyle/>
        <a:p>
          <a:endParaRPr lang="en-US"/>
        </a:p>
      </dgm:t>
    </dgm:pt>
    <dgm:pt modelId="{F108A701-E563-4338-A987-4905F77976A0}" type="sibTrans" cxnId="{5D8058C7-D81B-489F-9652-E83B6EF8FA52}">
      <dgm:prSet/>
      <dgm:spPr/>
      <dgm:t>
        <a:bodyPr/>
        <a:lstStyle/>
        <a:p>
          <a:endParaRPr lang="en-US"/>
        </a:p>
      </dgm:t>
    </dgm:pt>
    <dgm:pt modelId="{45D79035-3BAA-4B84-942D-7F6A72D979B5}">
      <dgm:prSet/>
      <dgm:spPr/>
      <dgm:t>
        <a:bodyPr/>
        <a:lstStyle/>
        <a:p>
          <a:r>
            <a:rPr lang="en-US" b="0" i="0" baseline="0"/>
            <a:t>Các chức năng chính được phân theo vai trò (Admin / Customer).</a:t>
          </a:r>
          <a:endParaRPr lang="en-US"/>
        </a:p>
      </dgm:t>
    </dgm:pt>
    <dgm:pt modelId="{1E42CCCB-7FDA-41A8-928F-14A49614A45D}" type="parTrans" cxnId="{0597EDFB-16E3-43AF-AF8B-6137EDDB82AE}">
      <dgm:prSet/>
      <dgm:spPr/>
      <dgm:t>
        <a:bodyPr/>
        <a:lstStyle/>
        <a:p>
          <a:endParaRPr lang="en-US"/>
        </a:p>
      </dgm:t>
    </dgm:pt>
    <dgm:pt modelId="{B92A8C22-3B09-46A0-A052-FF454CC2B330}" type="sibTrans" cxnId="{0597EDFB-16E3-43AF-AF8B-6137EDDB82AE}">
      <dgm:prSet/>
      <dgm:spPr/>
      <dgm:t>
        <a:bodyPr/>
        <a:lstStyle/>
        <a:p>
          <a:endParaRPr lang="en-US"/>
        </a:p>
      </dgm:t>
    </dgm:pt>
    <dgm:pt modelId="{A92B2415-0F35-4A07-A5D4-DD0FD76501E9}">
      <dgm:prSet/>
      <dgm:spPr/>
      <dgm:t>
        <a:bodyPr/>
        <a:lstStyle/>
        <a:p>
          <a:r>
            <a:rPr lang="en-US" b="0" i="0" baseline="0"/>
            <a:t>Áp dụng mô hình </a:t>
          </a:r>
          <a:r>
            <a:rPr lang="en-US" b="1" i="0" baseline="0"/>
            <a:t>MVC (Model – View – Controller)</a:t>
          </a:r>
          <a:r>
            <a:rPr lang="en-US" b="0" i="0" baseline="0"/>
            <a:t>.</a:t>
          </a:r>
          <a:endParaRPr lang="en-US"/>
        </a:p>
      </dgm:t>
    </dgm:pt>
    <dgm:pt modelId="{1E42B42C-3075-4211-AD2C-5BC3498FB2C4}" type="parTrans" cxnId="{5C5B0998-90F6-46E3-B1B9-5F33D345229E}">
      <dgm:prSet/>
      <dgm:spPr/>
      <dgm:t>
        <a:bodyPr/>
        <a:lstStyle/>
        <a:p>
          <a:endParaRPr lang="en-US"/>
        </a:p>
      </dgm:t>
    </dgm:pt>
    <dgm:pt modelId="{FCABBCE1-1F54-4A5C-B233-8918ADE44380}" type="sibTrans" cxnId="{5C5B0998-90F6-46E3-B1B9-5F33D345229E}">
      <dgm:prSet/>
      <dgm:spPr/>
      <dgm:t>
        <a:bodyPr/>
        <a:lstStyle/>
        <a:p>
          <a:endParaRPr lang="en-US"/>
        </a:p>
      </dgm:t>
    </dgm:pt>
    <dgm:pt modelId="{16534277-105C-4EF1-8A72-E5D525434572}" type="pres">
      <dgm:prSet presAssocID="{CB82A7FF-6F3F-41DA-8098-6C038A2CED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D98D63B-DD9F-4E0F-9FCF-25856016AC95}" type="pres">
      <dgm:prSet presAssocID="{A572DF5E-1B60-42D8-8E4A-D015A2E7D402}" presName="hierRoot1" presStyleCnt="0"/>
      <dgm:spPr/>
    </dgm:pt>
    <dgm:pt modelId="{AEAB73A6-1010-43AE-8F7D-FF4B0F9E91F4}" type="pres">
      <dgm:prSet presAssocID="{A572DF5E-1B60-42D8-8E4A-D015A2E7D402}" presName="composite" presStyleCnt="0"/>
      <dgm:spPr/>
    </dgm:pt>
    <dgm:pt modelId="{305E67C0-F2FE-47B9-8401-0B5CEA0DE211}" type="pres">
      <dgm:prSet presAssocID="{A572DF5E-1B60-42D8-8E4A-D015A2E7D402}" presName="background" presStyleLbl="node0" presStyleIdx="0" presStyleCnt="3"/>
      <dgm:spPr/>
    </dgm:pt>
    <dgm:pt modelId="{50085D1B-F6D6-4C66-B91C-C40C2406AF1C}" type="pres">
      <dgm:prSet presAssocID="{A572DF5E-1B60-42D8-8E4A-D015A2E7D402}" presName="text" presStyleLbl="fgAcc0" presStyleIdx="0" presStyleCnt="3">
        <dgm:presLayoutVars>
          <dgm:chPref val="3"/>
        </dgm:presLayoutVars>
      </dgm:prSet>
      <dgm:spPr/>
    </dgm:pt>
    <dgm:pt modelId="{4BD4BEFA-B1DC-4678-9EC2-1F86E4A2EBA8}" type="pres">
      <dgm:prSet presAssocID="{A572DF5E-1B60-42D8-8E4A-D015A2E7D402}" presName="hierChild2" presStyleCnt="0"/>
      <dgm:spPr/>
    </dgm:pt>
    <dgm:pt modelId="{36543FCD-DB64-4348-B9A5-27A7D091CF5A}" type="pres">
      <dgm:prSet presAssocID="{45D79035-3BAA-4B84-942D-7F6A72D979B5}" presName="hierRoot1" presStyleCnt="0"/>
      <dgm:spPr/>
    </dgm:pt>
    <dgm:pt modelId="{9E3D06E4-C1E2-46C8-BA11-62FC9F75A3F8}" type="pres">
      <dgm:prSet presAssocID="{45D79035-3BAA-4B84-942D-7F6A72D979B5}" presName="composite" presStyleCnt="0"/>
      <dgm:spPr/>
    </dgm:pt>
    <dgm:pt modelId="{166CB5DD-4734-4EF3-B63C-B165E6198A94}" type="pres">
      <dgm:prSet presAssocID="{45D79035-3BAA-4B84-942D-7F6A72D979B5}" presName="background" presStyleLbl="node0" presStyleIdx="1" presStyleCnt="3"/>
      <dgm:spPr/>
    </dgm:pt>
    <dgm:pt modelId="{CFFFE8B0-1F94-4843-97BF-A85DE9E45C40}" type="pres">
      <dgm:prSet presAssocID="{45D79035-3BAA-4B84-942D-7F6A72D979B5}" presName="text" presStyleLbl="fgAcc0" presStyleIdx="1" presStyleCnt="3">
        <dgm:presLayoutVars>
          <dgm:chPref val="3"/>
        </dgm:presLayoutVars>
      </dgm:prSet>
      <dgm:spPr/>
    </dgm:pt>
    <dgm:pt modelId="{54B9C29A-210D-4238-AF1D-90D873608456}" type="pres">
      <dgm:prSet presAssocID="{45D79035-3BAA-4B84-942D-7F6A72D979B5}" presName="hierChild2" presStyleCnt="0"/>
      <dgm:spPr/>
    </dgm:pt>
    <dgm:pt modelId="{49892B18-33D4-4709-8F07-66D2DCABBCFF}" type="pres">
      <dgm:prSet presAssocID="{A92B2415-0F35-4A07-A5D4-DD0FD76501E9}" presName="hierRoot1" presStyleCnt="0"/>
      <dgm:spPr/>
    </dgm:pt>
    <dgm:pt modelId="{86E5D17D-C8D7-4633-A208-60BA540994CF}" type="pres">
      <dgm:prSet presAssocID="{A92B2415-0F35-4A07-A5D4-DD0FD76501E9}" presName="composite" presStyleCnt="0"/>
      <dgm:spPr/>
    </dgm:pt>
    <dgm:pt modelId="{1BD8F385-F3E4-48B1-B4A6-A3B7AC3B0521}" type="pres">
      <dgm:prSet presAssocID="{A92B2415-0F35-4A07-A5D4-DD0FD76501E9}" presName="background" presStyleLbl="node0" presStyleIdx="2" presStyleCnt="3"/>
      <dgm:spPr/>
    </dgm:pt>
    <dgm:pt modelId="{A94621F0-ED3D-4D09-B6AC-137D7F2B34BC}" type="pres">
      <dgm:prSet presAssocID="{A92B2415-0F35-4A07-A5D4-DD0FD76501E9}" presName="text" presStyleLbl="fgAcc0" presStyleIdx="2" presStyleCnt="3">
        <dgm:presLayoutVars>
          <dgm:chPref val="3"/>
        </dgm:presLayoutVars>
      </dgm:prSet>
      <dgm:spPr/>
    </dgm:pt>
    <dgm:pt modelId="{B90710BF-435A-44E3-B2EA-F3581703A3DB}" type="pres">
      <dgm:prSet presAssocID="{A92B2415-0F35-4A07-A5D4-DD0FD76501E9}" presName="hierChild2" presStyleCnt="0"/>
      <dgm:spPr/>
    </dgm:pt>
  </dgm:ptLst>
  <dgm:cxnLst>
    <dgm:cxn modelId="{9D170627-E595-4E62-AD6B-1B4AC0482F2B}" type="presOf" srcId="{A572DF5E-1B60-42D8-8E4A-D015A2E7D402}" destId="{50085D1B-F6D6-4C66-B91C-C40C2406AF1C}" srcOrd="0" destOrd="0" presId="urn:microsoft.com/office/officeart/2005/8/layout/hierarchy1"/>
    <dgm:cxn modelId="{93D41649-764E-4E82-90E1-C9DB2D39F636}" type="presOf" srcId="{A92B2415-0F35-4A07-A5D4-DD0FD76501E9}" destId="{A94621F0-ED3D-4D09-B6AC-137D7F2B34BC}" srcOrd="0" destOrd="0" presId="urn:microsoft.com/office/officeart/2005/8/layout/hierarchy1"/>
    <dgm:cxn modelId="{5C5B0998-90F6-46E3-B1B9-5F33D345229E}" srcId="{CB82A7FF-6F3F-41DA-8098-6C038A2CED97}" destId="{A92B2415-0F35-4A07-A5D4-DD0FD76501E9}" srcOrd="2" destOrd="0" parTransId="{1E42B42C-3075-4211-AD2C-5BC3498FB2C4}" sibTransId="{FCABBCE1-1F54-4A5C-B233-8918ADE44380}"/>
    <dgm:cxn modelId="{7F55C5B2-0D55-48FB-8145-AAC24F49B61B}" type="presOf" srcId="{45D79035-3BAA-4B84-942D-7F6A72D979B5}" destId="{CFFFE8B0-1F94-4843-97BF-A85DE9E45C40}" srcOrd="0" destOrd="0" presId="urn:microsoft.com/office/officeart/2005/8/layout/hierarchy1"/>
    <dgm:cxn modelId="{6965CFBC-6E9F-4284-ADAE-29FD73D5635F}" type="presOf" srcId="{CB82A7FF-6F3F-41DA-8098-6C038A2CED97}" destId="{16534277-105C-4EF1-8A72-E5D525434572}" srcOrd="0" destOrd="0" presId="urn:microsoft.com/office/officeart/2005/8/layout/hierarchy1"/>
    <dgm:cxn modelId="{5D8058C7-D81B-489F-9652-E83B6EF8FA52}" srcId="{CB82A7FF-6F3F-41DA-8098-6C038A2CED97}" destId="{A572DF5E-1B60-42D8-8E4A-D015A2E7D402}" srcOrd="0" destOrd="0" parTransId="{1A7E89B1-43C8-4A60-8665-BA426C3F2312}" sibTransId="{F108A701-E563-4338-A987-4905F77976A0}"/>
    <dgm:cxn modelId="{0597EDFB-16E3-43AF-AF8B-6137EDDB82AE}" srcId="{CB82A7FF-6F3F-41DA-8098-6C038A2CED97}" destId="{45D79035-3BAA-4B84-942D-7F6A72D979B5}" srcOrd="1" destOrd="0" parTransId="{1E42CCCB-7FDA-41A8-928F-14A49614A45D}" sibTransId="{B92A8C22-3B09-46A0-A052-FF454CC2B330}"/>
    <dgm:cxn modelId="{A9D02C16-D701-4DE5-8698-6300935AC584}" type="presParOf" srcId="{16534277-105C-4EF1-8A72-E5D525434572}" destId="{CD98D63B-DD9F-4E0F-9FCF-25856016AC95}" srcOrd="0" destOrd="0" presId="urn:microsoft.com/office/officeart/2005/8/layout/hierarchy1"/>
    <dgm:cxn modelId="{28C8B401-9D83-4C1B-926E-CBBC722E18FE}" type="presParOf" srcId="{CD98D63B-DD9F-4E0F-9FCF-25856016AC95}" destId="{AEAB73A6-1010-43AE-8F7D-FF4B0F9E91F4}" srcOrd="0" destOrd="0" presId="urn:microsoft.com/office/officeart/2005/8/layout/hierarchy1"/>
    <dgm:cxn modelId="{198CA982-D1BC-48BA-8B59-A8C1B44BAA69}" type="presParOf" srcId="{AEAB73A6-1010-43AE-8F7D-FF4B0F9E91F4}" destId="{305E67C0-F2FE-47B9-8401-0B5CEA0DE211}" srcOrd="0" destOrd="0" presId="urn:microsoft.com/office/officeart/2005/8/layout/hierarchy1"/>
    <dgm:cxn modelId="{A78CE7FB-2405-4206-BBE3-75D365AA998B}" type="presParOf" srcId="{AEAB73A6-1010-43AE-8F7D-FF4B0F9E91F4}" destId="{50085D1B-F6D6-4C66-B91C-C40C2406AF1C}" srcOrd="1" destOrd="0" presId="urn:microsoft.com/office/officeart/2005/8/layout/hierarchy1"/>
    <dgm:cxn modelId="{3799217E-0ACC-4416-B488-37303D6FC39A}" type="presParOf" srcId="{CD98D63B-DD9F-4E0F-9FCF-25856016AC95}" destId="{4BD4BEFA-B1DC-4678-9EC2-1F86E4A2EBA8}" srcOrd="1" destOrd="0" presId="urn:microsoft.com/office/officeart/2005/8/layout/hierarchy1"/>
    <dgm:cxn modelId="{640D6A42-A1EC-4594-973D-6551B739468D}" type="presParOf" srcId="{16534277-105C-4EF1-8A72-E5D525434572}" destId="{36543FCD-DB64-4348-B9A5-27A7D091CF5A}" srcOrd="1" destOrd="0" presId="urn:microsoft.com/office/officeart/2005/8/layout/hierarchy1"/>
    <dgm:cxn modelId="{0F647310-F5D0-425C-9E81-6B80924B8942}" type="presParOf" srcId="{36543FCD-DB64-4348-B9A5-27A7D091CF5A}" destId="{9E3D06E4-C1E2-46C8-BA11-62FC9F75A3F8}" srcOrd="0" destOrd="0" presId="urn:microsoft.com/office/officeart/2005/8/layout/hierarchy1"/>
    <dgm:cxn modelId="{3A6EB50E-74BC-450A-B7A5-8833145342C9}" type="presParOf" srcId="{9E3D06E4-C1E2-46C8-BA11-62FC9F75A3F8}" destId="{166CB5DD-4734-4EF3-B63C-B165E6198A94}" srcOrd="0" destOrd="0" presId="urn:microsoft.com/office/officeart/2005/8/layout/hierarchy1"/>
    <dgm:cxn modelId="{0C1B1FCC-E9E5-476D-8403-E60CB65ED3E9}" type="presParOf" srcId="{9E3D06E4-C1E2-46C8-BA11-62FC9F75A3F8}" destId="{CFFFE8B0-1F94-4843-97BF-A85DE9E45C40}" srcOrd="1" destOrd="0" presId="urn:microsoft.com/office/officeart/2005/8/layout/hierarchy1"/>
    <dgm:cxn modelId="{4AF1C9AE-BC25-417C-97E2-78072597E9FA}" type="presParOf" srcId="{36543FCD-DB64-4348-B9A5-27A7D091CF5A}" destId="{54B9C29A-210D-4238-AF1D-90D873608456}" srcOrd="1" destOrd="0" presId="urn:microsoft.com/office/officeart/2005/8/layout/hierarchy1"/>
    <dgm:cxn modelId="{DFF2113D-16AA-44AF-9C92-BE50DE22CEAD}" type="presParOf" srcId="{16534277-105C-4EF1-8A72-E5D525434572}" destId="{49892B18-33D4-4709-8F07-66D2DCABBCFF}" srcOrd="2" destOrd="0" presId="urn:microsoft.com/office/officeart/2005/8/layout/hierarchy1"/>
    <dgm:cxn modelId="{C04DEE79-DCE7-403D-9B18-0B8FDF13B192}" type="presParOf" srcId="{49892B18-33D4-4709-8F07-66D2DCABBCFF}" destId="{86E5D17D-C8D7-4633-A208-60BA540994CF}" srcOrd="0" destOrd="0" presId="urn:microsoft.com/office/officeart/2005/8/layout/hierarchy1"/>
    <dgm:cxn modelId="{E21F001F-28D6-4A69-B9C4-5562479A410A}" type="presParOf" srcId="{86E5D17D-C8D7-4633-A208-60BA540994CF}" destId="{1BD8F385-F3E4-48B1-B4A6-A3B7AC3B0521}" srcOrd="0" destOrd="0" presId="urn:microsoft.com/office/officeart/2005/8/layout/hierarchy1"/>
    <dgm:cxn modelId="{85234413-6DA6-4D10-9012-BB8E0BE0AA75}" type="presParOf" srcId="{86E5D17D-C8D7-4633-A208-60BA540994CF}" destId="{A94621F0-ED3D-4D09-B6AC-137D7F2B34BC}" srcOrd="1" destOrd="0" presId="urn:microsoft.com/office/officeart/2005/8/layout/hierarchy1"/>
    <dgm:cxn modelId="{9B2C1913-32AB-4BD7-94BB-4653F1071921}" type="presParOf" srcId="{49892B18-33D4-4709-8F07-66D2DCABBCFF}" destId="{B90710BF-435A-44E3-B2EA-F3581703A3D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E67C0-F2FE-47B9-8401-0B5CEA0DE211}">
      <dsp:nvSpPr>
        <dsp:cNvPr id="0" name=""/>
        <dsp:cNvSpPr/>
      </dsp:nvSpPr>
      <dsp:spPr>
        <a:xfrm>
          <a:off x="0" y="1045102"/>
          <a:ext cx="2705099" cy="1717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85D1B-F6D6-4C66-B91C-C40C2406AF1C}">
      <dsp:nvSpPr>
        <dsp:cNvPr id="0" name=""/>
        <dsp:cNvSpPr/>
      </dsp:nvSpPr>
      <dsp:spPr>
        <a:xfrm>
          <a:off x="300566" y="1330640"/>
          <a:ext cx="2705099" cy="171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Mô hình cơ sở dữ liệu gồm:Bảng </a:t>
          </a:r>
          <a:r>
            <a:rPr lang="en-US" sz="1800" b="1" i="0" kern="1200" baseline="0"/>
            <a:t>Khách hàng, Sản phẩm, Danh mục, Đơn hàng, Nhân viên, Chi tiết đơn hàng</a:t>
          </a:r>
          <a:r>
            <a:rPr lang="en-US" sz="1800" b="0" i="0" kern="1200" baseline="0"/>
            <a:t>.</a:t>
          </a:r>
          <a:endParaRPr lang="en-US" sz="1800" kern="1200"/>
        </a:p>
      </dsp:txBody>
      <dsp:txXfrm>
        <a:off x="350877" y="1380951"/>
        <a:ext cx="2604477" cy="1617116"/>
      </dsp:txXfrm>
    </dsp:sp>
    <dsp:sp modelId="{166CB5DD-4734-4EF3-B63C-B165E6198A94}">
      <dsp:nvSpPr>
        <dsp:cNvPr id="0" name=""/>
        <dsp:cNvSpPr/>
      </dsp:nvSpPr>
      <dsp:spPr>
        <a:xfrm>
          <a:off x="3306233" y="1045102"/>
          <a:ext cx="2705099" cy="1717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FE8B0-1F94-4843-97BF-A85DE9E45C40}">
      <dsp:nvSpPr>
        <dsp:cNvPr id="0" name=""/>
        <dsp:cNvSpPr/>
      </dsp:nvSpPr>
      <dsp:spPr>
        <a:xfrm>
          <a:off x="3606799" y="1330640"/>
          <a:ext cx="2705099" cy="171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Các chức năng chính được phân theo vai trò (Admin / Customer).</a:t>
          </a:r>
          <a:endParaRPr lang="en-US" sz="1800" kern="1200"/>
        </a:p>
      </dsp:txBody>
      <dsp:txXfrm>
        <a:off x="3657110" y="1380951"/>
        <a:ext cx="2604477" cy="1617116"/>
      </dsp:txXfrm>
    </dsp:sp>
    <dsp:sp modelId="{1BD8F385-F3E4-48B1-B4A6-A3B7AC3B0521}">
      <dsp:nvSpPr>
        <dsp:cNvPr id="0" name=""/>
        <dsp:cNvSpPr/>
      </dsp:nvSpPr>
      <dsp:spPr>
        <a:xfrm>
          <a:off x="6612466" y="1045102"/>
          <a:ext cx="2705099" cy="1717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621F0-ED3D-4D09-B6AC-137D7F2B34BC}">
      <dsp:nvSpPr>
        <dsp:cNvPr id="0" name=""/>
        <dsp:cNvSpPr/>
      </dsp:nvSpPr>
      <dsp:spPr>
        <a:xfrm>
          <a:off x="6913033" y="1330640"/>
          <a:ext cx="2705099" cy="171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Áp dụng mô hình </a:t>
          </a:r>
          <a:r>
            <a:rPr lang="en-US" sz="1800" b="1" i="0" kern="1200" baseline="0"/>
            <a:t>MVC (Model – View – Controller)</a:t>
          </a:r>
          <a:r>
            <a:rPr lang="en-US" sz="1800" b="0" i="0" kern="1200" baseline="0"/>
            <a:t>.</a:t>
          </a:r>
          <a:endParaRPr lang="en-US" sz="1800" kern="1200"/>
        </a:p>
      </dsp:txBody>
      <dsp:txXfrm>
        <a:off x="6963344" y="1380951"/>
        <a:ext cx="2604477" cy="1617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15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5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65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3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5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9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1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3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7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5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0525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67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7805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40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6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0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F9D0D-0635-4943-A8F6-05518563799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61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D6BC9EB-F181-48AB-BCA2-3D1DB20D2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999460"/>
            <a:ext cx="5698067" cy="4479852"/>
          </a:xfrm>
        </p:spPr>
        <p:txBody>
          <a:bodyPr anchor="ctr">
            <a:normAutofit/>
          </a:bodyPr>
          <a:lstStyle/>
          <a:p>
            <a:r>
              <a:rPr lang="en-US" b="1" err="1"/>
              <a:t>Đề</a:t>
            </a:r>
            <a:r>
              <a:rPr lang="en-US" b="1"/>
              <a:t> </a:t>
            </a:r>
            <a:r>
              <a:rPr lang="en-US" b="1" err="1"/>
              <a:t>tài</a:t>
            </a:r>
            <a:r>
              <a:rPr lang="en-US" b="1"/>
              <a:t>: HỆ THỐNG TRANG BLOG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871971" y="999460"/>
            <a:ext cx="3123620" cy="44798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Giảng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viên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hướng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Trịnh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Văn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Trung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b="1" err="1">
                <a:latin typeface="Arial" panose="020B0604020202020204" pitchFamily="34" charset="0"/>
              </a:rPr>
              <a:t>Nhóm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 b="1" err="1">
                <a:latin typeface="Arial" panose="020B0604020202020204" pitchFamily="34" charset="0"/>
              </a:rPr>
              <a:t>gồm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 b="1" err="1">
                <a:latin typeface="Arial" panose="020B0604020202020204" pitchFamily="34" charset="0"/>
              </a:rPr>
              <a:t>các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 b="1" err="1">
                <a:latin typeface="Arial" panose="020B0604020202020204" pitchFamily="34" charset="0"/>
              </a:rPr>
              <a:t>thành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 b="1" err="1">
                <a:latin typeface="Arial" panose="020B0604020202020204" pitchFamily="34" charset="0"/>
              </a:rPr>
              <a:t>viên</a:t>
            </a:r>
            <a:r>
              <a:rPr lang="en-US" altLang="en-US" b="1">
                <a:latin typeface="Arial" panose="020B0604020202020204" pitchFamily="34" charset="0"/>
              </a:rPr>
              <a:t>: </a:t>
            </a:r>
            <a:r>
              <a:rPr lang="en-US" altLang="en-US">
                <a:latin typeface="Arial" panose="020B0604020202020204" pitchFamily="34" charset="0"/>
              </a:rPr>
              <a:t>NGHIÊM GIA LONG, ĐỖ MINH CƯƠNG.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b="1" err="1">
                <a:latin typeface="Arial" panose="020B0604020202020204" pitchFamily="34" charset="0"/>
              </a:rPr>
              <a:t>Lớp</a:t>
            </a:r>
            <a:r>
              <a:rPr lang="en-US" altLang="en-US" b="1">
                <a:latin typeface="Arial" panose="020B0604020202020204" pitchFamily="34" charset="0"/>
              </a:rPr>
              <a:t>:</a:t>
            </a:r>
            <a:r>
              <a:rPr lang="en-US" altLang="en-US">
                <a:latin typeface="Arial" panose="020B0604020202020204" pitchFamily="34" charset="0"/>
              </a:rPr>
              <a:t> K23CNT2.</a:t>
            </a:r>
            <a:endParaRPr kumimoji="0" lang="en-US" altLang="en-US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Đại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học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Nguyễn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Trãi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Khoa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Công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nghệ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tin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Giao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diện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đại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chuyên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nghiệp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Nội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dung: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14 slide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D33AAA80-39DC-4020-9BFF-0718F35C7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9C5D90B-7EE3-4D26-AB7D-A5A3A6E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639186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1177F295-741F-4EFF-B0CA-BE69295AD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1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1.Giới </a:t>
            </a:r>
            <a:r>
              <a:rPr lang="en-US" b="1" dirty="0" err="1">
                <a:solidFill>
                  <a:schemeClr val="tx1"/>
                </a:solidFill>
              </a:rPr>
              <a:t>thiệu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đề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bài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77863" y="3918426"/>
          <a:ext cx="8596312" cy="365760"/>
        </p:xfrm>
        <a:graphic>
          <a:graphicData uri="http://schemas.openxmlformats.org/drawingml/2006/table">
            <a:tbl>
              <a:tblPr/>
              <a:tblGrid>
                <a:gridCol w="8596312">
                  <a:extLst>
                    <a:ext uri="{9D8B030D-6E8A-4147-A177-3AD203B41FA5}">
                      <a16:colId xmlns:a16="http://schemas.microsoft.com/office/drawing/2014/main" val="7715047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11845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457153"/>
              </p:ext>
            </p:extLst>
          </p:nvPr>
        </p:nvGraphicFramePr>
        <p:xfrm>
          <a:off x="677334" y="2261937"/>
          <a:ext cx="8596841" cy="2296569"/>
        </p:xfrm>
        <a:graphic>
          <a:graphicData uri="http://schemas.openxmlformats.org/drawingml/2006/table">
            <a:tbl>
              <a:tblPr/>
              <a:tblGrid>
                <a:gridCol w="8596841">
                  <a:extLst>
                    <a:ext uri="{9D8B030D-6E8A-4147-A177-3AD203B41FA5}">
                      <a16:colId xmlns:a16="http://schemas.microsoft.com/office/drawing/2014/main" val="2372078886"/>
                    </a:ext>
                  </a:extLst>
                </a:gridCol>
              </a:tblGrid>
              <a:tr h="2296569">
                <a:tc>
                  <a:txBody>
                    <a:bodyPr/>
                    <a:lstStyle/>
                    <a:p>
                      <a:r>
                        <a:rPr lang="en-US" dirty="0"/>
                        <a:t>- </a:t>
                      </a:r>
                      <a:r>
                        <a:rPr lang="en-US" dirty="0" err="1"/>
                        <a:t>Mục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tiêu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xây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dựng</a:t>
                      </a:r>
                      <a:r>
                        <a:rPr lang="en-US" dirty="0"/>
                        <a:t> website blog.</a:t>
                      </a:r>
                      <a:br>
                        <a:rPr lang="en-US" dirty="0"/>
                      </a:br>
                      <a:r>
                        <a:rPr lang="en-US" dirty="0"/>
                        <a:t>- </a:t>
                      </a:r>
                      <a:r>
                        <a:rPr lang="en-US" dirty="0" err="1"/>
                        <a:t>Ứng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dụng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 3 </a:t>
                      </a:r>
                      <a:r>
                        <a:rPr lang="en-US" dirty="0" err="1"/>
                        <a:t>lớp</a:t>
                      </a:r>
                      <a:r>
                        <a:rPr lang="en-US" dirty="0"/>
                        <a:t> (MVC) </a:t>
                      </a:r>
                      <a:r>
                        <a:rPr lang="en-US" dirty="0" err="1"/>
                        <a:t>giúp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tách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biệt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giao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diện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xử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lý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dữ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liệu</a:t>
                      </a:r>
                      <a:r>
                        <a:rPr lang="en-US" dirty="0"/>
                        <a:t>.</a:t>
                      </a:r>
                      <a:br>
                        <a:rPr lang="en-US" dirty="0"/>
                      </a:br>
                      <a:r>
                        <a:rPr lang="en-US" dirty="0"/>
                        <a:t>-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dụng</a:t>
                      </a:r>
                      <a:r>
                        <a:rPr lang="en-US" dirty="0"/>
                        <a:t>: ASP.NET Core, SQL Server, HTML/CSS/Bootstrap.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96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277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b="1"/>
              <a:t>2. </a:t>
            </a:r>
            <a:r>
              <a:rPr lang="en-US" b="1" err="1"/>
              <a:t>Phân</a:t>
            </a:r>
            <a:r>
              <a:rPr lang="en-US" b="1"/>
              <a:t> </a:t>
            </a:r>
            <a:r>
              <a:rPr lang="en-US" b="1" err="1"/>
              <a:t>tích</a:t>
            </a:r>
            <a:r>
              <a:rPr lang="en-US" b="1"/>
              <a:t> </a:t>
            </a:r>
            <a:r>
              <a:rPr lang="en-US" b="1" err="1"/>
              <a:t>hệ</a:t>
            </a:r>
            <a:r>
              <a:rPr lang="en-US" b="1"/>
              <a:t> </a:t>
            </a:r>
            <a:r>
              <a:rPr lang="en-US" b="1" err="1"/>
              <a:t>thống</a:t>
            </a:r>
            <a:r>
              <a:rPr lang="en-US" b="1"/>
              <a:t>.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04327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graphicFrame>
        <p:nvGraphicFramePr>
          <p:cNvPr id="10" name="Rectangle 2">
            <a:extLst>
              <a:ext uri="{FF2B5EF4-FFF2-40B4-BE49-F238E27FC236}">
                <a16:creationId xmlns:a16="http://schemas.microsoft.com/office/drawing/2014/main" id="{04B11817-262A-9835-B8F2-E3207E4F98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572902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4098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3. Thiết kế cơ sở dữ liệu.</a:t>
            </a:r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673754" y="2160590"/>
            <a:ext cx="3973943" cy="34401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lvl="0" fontAlgn="base"/>
            <a:r>
              <a:rPr lang="en-US">
                <a:solidFill>
                  <a:schemeClr val="bg1"/>
                </a:solidFill>
              </a:rPr>
              <a:t>Mô hình ERD thể hiện các quan hệ giữa bảng:</a:t>
            </a: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fontAlgn="base"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KhachHang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1 – n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baiviet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➜ Mỗi khách hàng có thể có nhiều </a:t>
            </a:r>
            <a:r>
              <a:rPr lang="en-US" altLang="en-US">
                <a:solidFill>
                  <a:schemeClr val="bg1"/>
                </a:solidFill>
              </a:rPr>
              <a:t>BÀI VIẾT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0" marR="0" lvl="0" indent="0" fontAlgn="base">
              <a:tabLst/>
            </a:pPr>
            <a:r>
              <a:rPr lang="en-US" altLang="en-US" b="1">
                <a:solidFill>
                  <a:schemeClr val="bg1"/>
                </a:solidFill>
              </a:rPr>
              <a:t>BAIVIET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1 – n CHITIETBAIVIET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➜ Một </a:t>
            </a:r>
            <a:r>
              <a:rPr lang="en-US" altLang="en-US">
                <a:solidFill>
                  <a:schemeClr val="bg1"/>
                </a:solidFill>
              </a:rPr>
              <a:t>BÀI VIẾT có nhiều comment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0" marR="0" lvl="0" indent="0" fontAlgn="base">
              <a:tabLst/>
            </a:pPr>
            <a:r>
              <a:rPr lang="en-US" altLang="en-US" b="1">
                <a:solidFill>
                  <a:schemeClr val="bg1"/>
                </a:solidFill>
              </a:rPr>
              <a:t>BAIVIET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1 – n </a:t>
            </a:r>
            <a:r>
              <a:rPr lang="en-US" altLang="en-US" b="1">
                <a:solidFill>
                  <a:schemeClr val="bg1"/>
                </a:solidFill>
              </a:rPr>
              <a:t>comment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</a:b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6C86E7-206D-E8F9-A1AB-E943D81BB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358913"/>
            <a:ext cx="5143500" cy="4127658"/>
          </a:xfrm>
          <a:prstGeom prst="rect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13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Giao </a:t>
            </a:r>
            <a:r>
              <a:rPr lang="en-US" b="1" dirty="0" err="1">
                <a:solidFill>
                  <a:schemeClr val="bg1"/>
                </a:solidFill>
              </a:rPr>
              <a:t>diện</a:t>
            </a:r>
            <a:r>
              <a:rPr lang="en-US" b="1" dirty="0">
                <a:solidFill>
                  <a:schemeClr val="bg1"/>
                </a:solidFill>
              </a:rPr>
              <a:t> home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>
                <a:solidFill>
                  <a:schemeClr val="bg1"/>
                </a:solidFill>
              </a:rPr>
              <a:t>Dễ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dàng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truy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mục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qua </a:t>
            </a:r>
            <a:r>
              <a:rPr lang="en-US" b="1" dirty="0" err="1">
                <a:solidFill>
                  <a:schemeClr val="bg1"/>
                </a:solidFill>
              </a:rPr>
              <a:t>thanh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điều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hướng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Xem </a:t>
            </a:r>
            <a:r>
              <a:rPr lang="en-US" b="1" dirty="0" err="1">
                <a:solidFill>
                  <a:schemeClr val="bg1"/>
                </a:solidFill>
              </a:rPr>
              <a:t>các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bài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viết</a:t>
            </a:r>
            <a:endParaRPr lang="en-US" b="1" dirty="0">
              <a:solidFill>
                <a:schemeClr val="bg1"/>
              </a:solidFill>
            </a:endParaRP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Xem </a:t>
            </a:r>
            <a:r>
              <a:rPr lang="en-US" b="1" dirty="0" err="1">
                <a:solidFill>
                  <a:schemeClr val="bg1"/>
                </a:solidFill>
              </a:rPr>
              <a:t>chuyên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mục</a:t>
            </a:r>
            <a:endParaRPr lang="en-US" b="1" dirty="0">
              <a:solidFill>
                <a:schemeClr val="bg1"/>
              </a:solidFill>
            </a:endParaRP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Xem </a:t>
            </a:r>
            <a:r>
              <a:rPr lang="en-US" b="1" dirty="0" err="1">
                <a:solidFill>
                  <a:schemeClr val="bg1"/>
                </a:solidFill>
              </a:rPr>
              <a:t>bài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viết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nổi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bật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B5C9D5-B922-A7DC-A25D-02CC6A22B8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1" y="2117579"/>
            <a:ext cx="5143500" cy="2610326"/>
          </a:xfrm>
          <a:prstGeom prst="rect">
            <a:avLst/>
          </a:prstGeom>
        </p:spPr>
      </p:pic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088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52758F-26B8-A355-BE25-3C4599F155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rcRect l="861" r="9360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4. Giao diện NGƯỜI DÙNG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1317813"/>
            <a:ext cx="8596668" cy="4723550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>
                <a:solidFill>
                  <a:srgbClr val="FFFFFF"/>
                </a:solidFill>
              </a:rPr>
              <a:t>Người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dùng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được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các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bài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viết</a:t>
            </a:r>
            <a:endParaRPr lang="en-US" dirty="0">
              <a:solidFill>
                <a:srgbClr val="FFFFFF"/>
              </a:solidFill>
            </a:endParaRPr>
          </a:p>
          <a:p>
            <a:pPr marL="0" lvl="0" indent="0"/>
            <a:r>
              <a:rPr lang="en-US" dirty="0">
                <a:solidFill>
                  <a:srgbClr val="FFFFFF"/>
                </a:solidFill>
              </a:rPr>
              <a:t>   </a:t>
            </a:r>
            <a:r>
              <a:rPr lang="en-US" dirty="0" err="1">
                <a:solidFill>
                  <a:srgbClr val="FFFFFF"/>
                </a:solidFill>
              </a:rPr>
              <a:t>Người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dùng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tìm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kiếm</a:t>
            </a:r>
            <a:endParaRPr lang="en-US" dirty="0">
              <a:solidFill>
                <a:srgbClr val="FFFFFF"/>
              </a:solidFill>
            </a:endParaRPr>
          </a:p>
          <a:p>
            <a:pPr marL="0" lvl="0" indent="0"/>
            <a:r>
              <a:rPr lang="en-US" dirty="0">
                <a:solidFill>
                  <a:srgbClr val="FFFFFF"/>
                </a:solidFill>
              </a:rPr>
              <a:t>   </a:t>
            </a:r>
            <a:r>
              <a:rPr lang="en-US" dirty="0" err="1">
                <a:solidFill>
                  <a:srgbClr val="FFFFFF"/>
                </a:solidFill>
              </a:rPr>
              <a:t>Người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dùng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đăng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bài</a:t>
            </a:r>
            <a:br>
              <a:rPr lang="en-US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386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Giao </a:t>
            </a:r>
            <a:r>
              <a:rPr lang="en-US" b="1" dirty="0" err="1">
                <a:solidFill>
                  <a:schemeClr val="bg1"/>
                </a:solidFill>
              </a:rPr>
              <a:t>diện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bên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trong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bài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viết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solidFill>
                  <a:schemeClr val="bg1"/>
                </a:solidFill>
              </a:rPr>
              <a:t>Có hình ảnh, nội dung bài viết.</a:t>
            </a:r>
          </a:p>
          <a:p>
            <a:pPr lvl="0"/>
            <a:r>
              <a:rPr lang="en-US">
                <a:solidFill>
                  <a:schemeClr val="bg1"/>
                </a:solidFill>
              </a:rPr>
              <a:t>Cho phép người dùng có tài khoản đăng nhập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8" name="Content Placeholder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439786E-806A-C1B4-7384-0F90F79536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2047" y="1331271"/>
            <a:ext cx="6592554" cy="4269429"/>
          </a:xfrm>
          <a:prstGeom prst="rect">
            <a:avLst/>
          </a:prstGeom>
        </p:spPr>
      </p:pic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12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199" y="4571999"/>
            <a:ext cx="767380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/>
              <a:t>5</a:t>
            </a:r>
            <a:r>
              <a:rPr lang="en-US" sz="48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. </a:t>
            </a:r>
            <a:r>
              <a:rPr lang="en-US" sz="4800" b="1" dirty="0"/>
              <a:t>Giao </a:t>
            </a:r>
            <a:r>
              <a:rPr lang="en-US" sz="4800" b="1" dirty="0" err="1"/>
              <a:t>diện</a:t>
            </a:r>
            <a:r>
              <a:rPr lang="en-US" sz="4800" b="1" dirty="0"/>
              <a:t> </a:t>
            </a:r>
            <a:r>
              <a:rPr lang="en-US" sz="4800" b="1" dirty="0" err="1"/>
              <a:t>chuyên</a:t>
            </a:r>
            <a:r>
              <a:rPr lang="en-US" sz="4800" b="1" dirty="0"/>
              <a:t> </a:t>
            </a:r>
            <a:r>
              <a:rPr lang="en-US" sz="4800" b="1" dirty="0" err="1"/>
              <a:t>mục</a:t>
            </a:r>
            <a:endParaRPr lang="en-US" sz="4800" b="1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674795" y="5659655"/>
            <a:ext cx="7599205" cy="611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Cho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phép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tìm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kiếm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bài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viết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bằng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chuyên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mục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EB1B3E-C6D5-555A-CE8D-FDEB92D101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00201" y="609600"/>
            <a:ext cx="7284714" cy="364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9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6. Giao </a:t>
            </a:r>
            <a:r>
              <a:rPr lang="en-US" b="1" dirty="0" err="1">
                <a:solidFill>
                  <a:schemeClr val="tx1"/>
                </a:solidFill>
              </a:rPr>
              <a:t>diện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đăng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bài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Người</a:t>
            </a:r>
            <a:r>
              <a:rPr lang="en-US" dirty="0"/>
              <a:t> dung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,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, </a:t>
            </a:r>
            <a:r>
              <a:rPr lang="en-US" dirty="0" err="1"/>
              <a:t>dropbox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,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dung,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AA6E3C-43FC-283C-A20B-EF06349FE9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2387" y="1818751"/>
            <a:ext cx="7270504" cy="473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26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7. Giao </a:t>
            </a:r>
            <a:r>
              <a:rPr lang="en-US" b="1" dirty="0" err="1">
                <a:solidFill>
                  <a:schemeClr val="bg1"/>
                </a:solidFill>
              </a:rPr>
              <a:t>diện</a:t>
            </a:r>
            <a:r>
              <a:rPr lang="en-US" b="1" dirty="0">
                <a:solidFill>
                  <a:schemeClr val="bg1"/>
                </a:solidFill>
              </a:rPr>
              <a:t> Admin.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Hiển </a:t>
            </a:r>
            <a:r>
              <a:rPr lang="en-US" dirty="0" err="1">
                <a:solidFill>
                  <a:schemeClr val="bg1"/>
                </a:solidFill>
              </a:rPr>
              <a:t>thị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thống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kê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số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bài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từng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mục</a:t>
            </a:r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Danh </a:t>
            </a:r>
            <a:r>
              <a:rPr lang="en-US" dirty="0" err="1">
                <a:solidFill>
                  <a:schemeClr val="bg1"/>
                </a:solidFill>
              </a:rPr>
              <a:t>mục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hiển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mục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bài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Admin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thêm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mục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sửa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mục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sửa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bài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viết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sửa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xoá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tài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khoản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người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dùng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DFFCAB-F479-CD0C-9FE6-44304AD9A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2143297"/>
            <a:ext cx="5143500" cy="2558891"/>
          </a:xfrm>
          <a:prstGeom prst="rect">
            <a:avLst/>
          </a:prstGeom>
        </p:spPr>
      </p:pic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013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199" y="4571999"/>
            <a:ext cx="7673801" cy="10876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8. Giao </a:t>
            </a:r>
            <a:r>
              <a:rPr lang="en-US" sz="4800" b="1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diện</a:t>
            </a:r>
            <a:r>
              <a:rPr lang="en-US" sz="48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quản</a:t>
            </a:r>
            <a:r>
              <a:rPr lang="en-US" sz="48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lý</a:t>
            </a:r>
            <a:r>
              <a:rPr lang="en-US" sz="48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bài</a:t>
            </a:r>
            <a:r>
              <a:rPr lang="en-US" sz="48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viết</a:t>
            </a:r>
            <a:endParaRPr lang="en-US" sz="48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4795" y="5659655"/>
            <a:ext cx="7599205" cy="611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Xem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danh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sách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viết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Chỉnh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sửa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trạng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thái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xoá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viết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C1EB88-D404-A634-2CDD-A1B926E6FB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00201" y="609600"/>
            <a:ext cx="6095994" cy="364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59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5. Giao </a:t>
            </a:r>
            <a:r>
              <a:rPr lang="en-US" b="1" dirty="0" err="1">
                <a:solidFill>
                  <a:schemeClr val="bg1"/>
                </a:solidFill>
              </a:rPr>
              <a:t>diện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danh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mục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Xem </a:t>
            </a:r>
            <a:r>
              <a:rPr lang="en-US" dirty="0" err="1">
                <a:solidFill>
                  <a:schemeClr val="bg1"/>
                </a:solidFill>
              </a:rPr>
              <a:t>danh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mục</a:t>
            </a:r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dirty="0" err="1">
                <a:solidFill>
                  <a:schemeClr val="bg1"/>
                </a:solidFill>
              </a:rPr>
              <a:t>Chỉnh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sửa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mục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E5066D-91E7-21B4-289C-11C99C3B7D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60350" y="1975589"/>
            <a:ext cx="6607172" cy="3320103"/>
          </a:xfrm>
          <a:prstGeom prst="rect">
            <a:avLst/>
          </a:prstGeom>
        </p:spPr>
      </p:pic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649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5. Giao diện quản lý người dùng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/>
            <a:r>
              <a:rPr lang="en-US">
                <a:solidFill>
                  <a:schemeClr val="bg1"/>
                </a:solidFill>
              </a:rPr>
              <a:t>Chỉnh sửa vai trò người dùng</a:t>
            </a:r>
          </a:p>
          <a:p>
            <a:pPr lvl="0"/>
            <a:r>
              <a:rPr lang="en-US">
                <a:solidFill>
                  <a:schemeClr val="bg1"/>
                </a:solidFill>
              </a:rPr>
              <a:t>Xoá tài khoản người dùng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310275-BA1A-AF7B-9C24-3E1A33CD37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1" y="2130438"/>
            <a:ext cx="5143500" cy="2584608"/>
          </a:xfrm>
          <a:prstGeom prst="rect">
            <a:avLst/>
          </a:prstGeom>
        </p:spPr>
      </p:pic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596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6.</a:t>
            </a:r>
            <a:r>
              <a:rPr lang="en-US" b="1" dirty="0">
                <a:solidFill>
                  <a:schemeClr val="tx1"/>
                </a:solidFill>
              </a:rPr>
              <a:t> KẾT LUẬN VÀ HƯỚNG PHÁT TRIỂN</a:t>
            </a:r>
            <a:br>
              <a:rPr lang="en-US" b="1" dirty="0"/>
            </a:b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Hoàn thiện hệ thống cơ bản.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Giao diện thân thiện, hoạt động ổn định.</a:t>
            </a:r>
            <a:br>
              <a:rPr lang="vi-VN" dirty="0"/>
            </a:br>
            <a:endParaRPr lang="en-US" dirty="0"/>
          </a:p>
          <a:p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: G</a:t>
            </a:r>
            <a:r>
              <a:rPr lang="vi-VN" dirty="0"/>
              <a:t>iao diện chưa đẹp, </a:t>
            </a:r>
            <a:endParaRPr lang="en-US" dirty="0"/>
          </a:p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: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UI/UX.</a:t>
            </a:r>
          </a:p>
        </p:txBody>
      </p:sp>
    </p:spTree>
    <p:extLst>
      <p:ext uri="{BB962C8B-B14F-4D97-AF65-F5344CB8AC3E}">
        <p14:creationId xmlns:p14="http://schemas.microsoft.com/office/powerpoint/2010/main" val="39455977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157</TotalTime>
  <Words>525</Words>
  <Application>Microsoft Office PowerPoint</Application>
  <PresentationFormat>Widescreen</PresentationFormat>
  <Paragraphs>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Đề tài: HỆ THỐNG TRANG BLOG</vt:lpstr>
      <vt:lpstr>1.Giới thiệu đề bài.</vt:lpstr>
      <vt:lpstr>2. Phân tích hệ thống.</vt:lpstr>
      <vt:lpstr>3. Thiết kế cơ sở dữ liệu.</vt:lpstr>
      <vt:lpstr>4. Giao diện home</vt:lpstr>
      <vt:lpstr>4. Giao diện NGƯỜI DÙNG</vt:lpstr>
      <vt:lpstr>4. Giao diện bên trong bài viết.</vt:lpstr>
      <vt:lpstr>5. Giao diện chuyên mục</vt:lpstr>
      <vt:lpstr>6. Giao diện đăng bài</vt:lpstr>
      <vt:lpstr>7. Giao diện Admin.</vt:lpstr>
      <vt:lpstr>8. Giao diện quản lý bài viết</vt:lpstr>
      <vt:lpstr>5. Giao diện danh mục</vt:lpstr>
      <vt:lpstr>5. Giao diện quản lý người dùng</vt:lpstr>
      <vt:lpstr>6. KẾT LUẬN VÀ HƯỚNG PHÁT TRIỂN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tài: HỆ THỐNG BÁN ĐỒ ĂN NHANH</dc:title>
  <dc:creator>Windows User</dc:creator>
  <cp:lastModifiedBy>Long Nghiem</cp:lastModifiedBy>
  <cp:revision>12</cp:revision>
  <dcterms:created xsi:type="dcterms:W3CDTF">2025-10-06T03:13:06Z</dcterms:created>
  <dcterms:modified xsi:type="dcterms:W3CDTF">2025-10-17T15:48:02Z</dcterms:modified>
</cp:coreProperties>
</file>